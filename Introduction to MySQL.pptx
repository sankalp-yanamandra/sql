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5" r:id="rId4"/>
    <p:sldId id="266" r:id="rId5"/>
    <p:sldId id="268" r:id="rId6"/>
    <p:sldId id="270" r:id="rId7"/>
    <p:sldId id="269" r:id="rId8"/>
    <p:sldId id="259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58" r:id="rId18"/>
    <p:sldId id="279" r:id="rId19"/>
    <p:sldId id="280" r:id="rId20"/>
    <p:sldId id="283" r:id="rId21"/>
    <p:sldId id="284" r:id="rId22"/>
    <p:sldId id="281" r:id="rId23"/>
    <p:sldId id="282" r:id="rId24"/>
    <p:sldId id="260" r:id="rId25"/>
    <p:sldId id="285" r:id="rId26"/>
    <p:sldId id="262" r:id="rId27"/>
    <p:sldId id="261" r:id="rId28"/>
    <p:sldId id="28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21F4-D8FB-E008-A98B-FB58295FD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2EC6D-0572-5C76-C150-554E23CEC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5D881-6D87-C697-F349-6C844EF8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98188-69BD-9904-5ACC-FA08CD51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4666-47E7-197A-F640-00FC80C7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85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6517-90F4-B850-56F9-3C9905A8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C9AB4-5CFD-F3DD-595C-6C383C71C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48597-8B64-737D-B852-31783000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34B6-B422-8667-AAEB-4AEFDA57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B553-2F02-D231-6F19-AD373DCA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12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14EE-BE02-48C1-5FEC-8AF2F26A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1D102-158E-2221-6D0B-4A2A7B5F6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004AA-7940-EAFE-E50A-2E781E85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3FDC7-D8D9-C8F3-B822-9D4F0EB5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0017-6BC6-1ABC-4F99-66CE300F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8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B36E-F6DB-1396-48DC-D5E3D0A6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66753-AEA7-1786-134E-2CE03F6BA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55B95-52FF-A8D0-23EE-C3FDBC39C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5F113-03F3-2803-CE5E-DB3A0D1F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3C404-9E13-D44A-B641-C1611AA4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B655C-E1A9-4DFC-54A6-E9E8775F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96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103D-C787-C1BF-AEB1-6B085BEC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BE3EB-4A42-1816-FE77-A0ED7F734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3908F-DFB7-B26C-E2D9-D099F3AAF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265D7-C644-FF3F-6037-3914D685A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B4E61-EEE2-4444-862B-73B0821A9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49BAA-0186-17FA-28C6-5A300919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64744E-F92C-2B89-DB52-24E36127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E6251-4F34-1E4E-5BE4-2048A0C2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94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4189-E7FA-21CD-58D3-83E8D59C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670ACC-FDBF-0F81-FE0F-C726D55C9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CCD03-4912-877E-9FC8-FB1C61B1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18837-E60A-45DB-C183-98B78968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84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C6BC9-9157-FAC2-C2DF-6E2DDB063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3EBC2-8614-AB2C-A7EB-C2C0C51C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182B-89A4-65F6-4EE9-361DC568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32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45D5-FDC5-8E62-CB68-40E50552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4FBDC-E3AA-5D17-171F-5FE096AC8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D56EB-33F4-2AA4-83F7-761195E58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7296F-3EC6-B586-CCDF-D3C534B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2A61A-E8A3-DC8E-7AE9-BF78C17B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D89C4-80D1-5E04-5075-06537E74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94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364F-453B-A72D-E646-D66F09D8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7942C-A646-797C-63C7-33E4EEE41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6012D-63D7-7034-1D78-137267F82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C6C6A-0894-7621-7A18-60AF90E7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1B8C0-216A-3EE1-AE0F-E19AA9EF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2429B-274F-01B8-12FF-379089D2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12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F626-94EF-8981-1CE1-8B558D8B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0A119-926F-B7D2-480D-E7D0E676B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8AE4D-F718-4A0D-E4EC-4E7AF7CA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D93E4-6A7D-E12C-5E9B-B0E7E823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3805A-3086-47CD-3BE5-DC36AC32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80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C84E8-0294-5074-DDEA-7DD03C65F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3DDF2-3B9C-C354-10CB-F43400A74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BD4EE-BB30-44DF-4D12-C41BDEBC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354B5-94D5-8E58-2EA2-76BFFE49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428A3-BB10-6A11-3A95-7AAF781D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76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04B44-B3B7-00FA-4AC3-0E3CEC003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88568-9044-A99C-820F-8C50F31B5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85309-8C18-20D0-4C64-C4054FBF2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CBF09-A102-44D5-826D-D7679FFBDAFA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FC610-908B-6EB7-85E4-57AA57F48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ECFF5-E6F6-2B1D-5045-29D11F38D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A5BDD-AF18-45DE-935C-5FA91789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1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AE84-A378-69BA-608B-D5C8B61CA2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Introduction to DBMS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7F9F5-D8A8-A203-55EE-0455E023F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439" y="5010508"/>
            <a:ext cx="9144000" cy="725129"/>
          </a:xfrm>
        </p:spPr>
        <p:txBody>
          <a:bodyPr>
            <a:normAutofit/>
          </a:bodyPr>
          <a:lstStyle/>
          <a:p>
            <a:pPr algn="r"/>
            <a:r>
              <a:rPr lang="en-IN" dirty="0"/>
              <a:t> By Kusuma M </a:t>
            </a:r>
          </a:p>
        </p:txBody>
      </p:sp>
    </p:spTree>
    <p:extLst>
      <p:ext uri="{BB962C8B-B14F-4D97-AF65-F5344CB8AC3E}">
        <p14:creationId xmlns:p14="http://schemas.microsoft.com/office/powerpoint/2010/main" val="172323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FA37-37F4-1E25-C119-85D95C50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DBMS?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E226E-9A80-BC93-6F9E-702600F2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Database Management System consists of two parts: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Database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Management System	</a:t>
            </a:r>
          </a:p>
          <a:p>
            <a:r>
              <a:rPr lang="en-IN" dirty="0"/>
              <a:t>Database: An organized collection of data.</a:t>
            </a:r>
          </a:p>
          <a:p>
            <a:r>
              <a:rPr lang="en-IN" dirty="0"/>
              <a:t>Management System: A set of programs to access or retrieve, update and manipulate the data in the database that is both convenient and efficient.</a:t>
            </a:r>
          </a:p>
          <a:p>
            <a:r>
              <a:rPr lang="en-IN" dirty="0"/>
              <a:t>A DBMS is a software that stores, manages, and retrieves data efficiently. Ex: MySQL, Oracle, MSSQL, PostgreSQL</a:t>
            </a:r>
          </a:p>
        </p:txBody>
      </p:sp>
    </p:spTree>
    <p:extLst>
      <p:ext uri="{BB962C8B-B14F-4D97-AF65-F5344CB8AC3E}">
        <p14:creationId xmlns:p14="http://schemas.microsoft.com/office/powerpoint/2010/main" val="345815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D68F-3159-B627-88DE-86AA7769E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r>
              <a:rPr lang="en-IN" dirty="0"/>
              <a:t>What is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92BAB-43B9-175A-EE67-DD1B579EC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361"/>
            <a:ext cx="10515600" cy="4908602"/>
          </a:xfrm>
        </p:spPr>
        <p:txBody>
          <a:bodyPr/>
          <a:lstStyle/>
          <a:p>
            <a:r>
              <a:rPr lang="en-IN" dirty="0"/>
              <a:t>Data: Collection of information or facts.</a:t>
            </a:r>
          </a:p>
          <a:p>
            <a:r>
              <a:rPr lang="en-IN" dirty="0"/>
              <a:t>Record: Collection of related data items.</a:t>
            </a:r>
          </a:p>
          <a:p>
            <a:r>
              <a:rPr lang="en-IN" dirty="0"/>
              <a:t>Table / Relation: Collection of related records.</a:t>
            </a:r>
          </a:p>
          <a:p>
            <a:r>
              <a:rPr lang="en-IN" dirty="0"/>
              <a:t>Database: Organized collection of related tables or relations.</a:t>
            </a:r>
          </a:p>
          <a:p>
            <a:r>
              <a:rPr lang="en-IN" dirty="0"/>
              <a:t>In simple words, Database is a server which stores the collection of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	</a:t>
            </a:r>
            <a:r>
              <a:rPr lang="en-IN" sz="2800" dirty="0"/>
              <a:t>Stores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 	Manages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 	Analyses Data</a:t>
            </a:r>
          </a:p>
        </p:txBody>
      </p:sp>
    </p:spTree>
    <p:extLst>
      <p:ext uri="{BB962C8B-B14F-4D97-AF65-F5344CB8AC3E}">
        <p14:creationId xmlns:p14="http://schemas.microsoft.com/office/powerpoint/2010/main" val="11320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DD61-00D1-5E47-5E84-EF388228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type of Data stores in a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A30C5-AC40-3636-A73B-EEFEC87ED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can be anything and everything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C94E7-CD3B-E0D1-21E7-B585765C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89" y="2617023"/>
            <a:ext cx="8406064" cy="399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6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2E8C-1006-D93C-EC3E-D17E7D95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8454"/>
          </a:xfrm>
        </p:spPr>
        <p:txBody>
          <a:bodyPr/>
          <a:lstStyle/>
          <a:p>
            <a:r>
              <a:rPr lang="en-IN" dirty="0"/>
              <a:t>File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AA11A-B01E-A197-B440-8B54D724B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210"/>
            <a:ext cx="10515600" cy="48886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Storing, organizing, retrieving and managing data files in a computer system.</a:t>
            </a:r>
          </a:p>
          <a:p>
            <a:pPr marL="0" indent="0">
              <a:buNone/>
            </a:pPr>
            <a:r>
              <a:rPr lang="en-IN" b="1" dirty="0"/>
              <a:t>Limitations of FMS:</a:t>
            </a:r>
          </a:p>
          <a:p>
            <a:r>
              <a:rPr lang="en-IN" dirty="0"/>
              <a:t>Data Redundancy &amp; Inconsistency</a:t>
            </a:r>
          </a:p>
          <a:p>
            <a:r>
              <a:rPr lang="en-IN" dirty="0"/>
              <a:t>Lack of concurrency control</a:t>
            </a:r>
          </a:p>
          <a:p>
            <a:r>
              <a:rPr lang="en-IN" dirty="0"/>
              <a:t>Poor Security</a:t>
            </a:r>
          </a:p>
          <a:p>
            <a:r>
              <a:rPr lang="en-IN" dirty="0"/>
              <a:t>No Relationships between data</a:t>
            </a:r>
          </a:p>
          <a:p>
            <a:r>
              <a:rPr lang="en-IN" dirty="0"/>
              <a:t>Manual backup &amp; recovery</a:t>
            </a:r>
          </a:p>
          <a:p>
            <a:r>
              <a:rPr lang="en-IN" dirty="0"/>
              <a:t>Scalability Issues</a:t>
            </a:r>
          </a:p>
          <a:p>
            <a:pPr marL="0" indent="0">
              <a:buNone/>
            </a:pPr>
            <a:r>
              <a:rPr lang="en-IN" dirty="0"/>
              <a:t> 	which led to  creation of </a:t>
            </a:r>
            <a:r>
              <a:rPr lang="en-IN" b="1" dirty="0"/>
              <a:t>DBMS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650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F158-08A4-14A9-9FD6-735568DD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B20F5-99C5-D954-4BF2-48C7D4BD8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Features of DBMS:</a:t>
            </a:r>
          </a:p>
          <a:p>
            <a:r>
              <a:rPr lang="en-IN" dirty="0"/>
              <a:t> Reduces data redundancy</a:t>
            </a:r>
          </a:p>
          <a:p>
            <a:r>
              <a:rPr lang="en-IN" dirty="0"/>
              <a:t> Improves data consistency</a:t>
            </a:r>
          </a:p>
          <a:p>
            <a:r>
              <a:rPr lang="en-IN" dirty="0"/>
              <a:t> Supports multiple users</a:t>
            </a:r>
          </a:p>
          <a:p>
            <a:r>
              <a:rPr lang="en-IN" dirty="0"/>
              <a:t> Enforces security</a:t>
            </a:r>
          </a:p>
          <a:p>
            <a:r>
              <a:rPr lang="en-IN" dirty="0"/>
              <a:t> Provides backup &amp; recovery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269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1FF2-3291-F46D-5637-5CDF2FE5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DBMS works?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7550AE-6193-CC2E-46F8-426A161FEE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7" y="1986756"/>
            <a:ext cx="6143625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62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E075-9EFF-D613-F64C-62B6B20D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Database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32553-F6A6-01A0-6CB1-3D64CDD01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Databases organize data in different structures called models.</a:t>
            </a:r>
          </a:p>
          <a:p>
            <a:pPr marL="0" indent="0">
              <a:buNone/>
            </a:pPr>
            <a:r>
              <a:rPr lang="en-IN" dirty="0"/>
              <a:t>Types of Database Models:</a:t>
            </a:r>
          </a:p>
          <a:p>
            <a:r>
              <a:rPr lang="en-IN" dirty="0"/>
              <a:t>Hierarchical (1970s-1990s):- Tree-like structure; parent-child relationships</a:t>
            </a:r>
          </a:p>
          <a:p>
            <a:r>
              <a:rPr lang="en-IN" dirty="0"/>
              <a:t>Network (1970s-1990s):- Graph like connections between records</a:t>
            </a:r>
          </a:p>
          <a:p>
            <a:r>
              <a:rPr lang="en-IN" dirty="0"/>
              <a:t>Relational (1980s-present):- Tables with rows &amp; columns</a:t>
            </a:r>
          </a:p>
          <a:p>
            <a:r>
              <a:rPr lang="en-IN" dirty="0"/>
              <a:t>Object-Oriented (1990s-present):- Data stored as objects with attributes &amp; methods</a:t>
            </a:r>
          </a:p>
          <a:p>
            <a:r>
              <a:rPr lang="en-IN" dirty="0"/>
              <a:t>NoSQL / Document :- Stores unstructured/semi-structured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53737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A86D-2986-0E64-D7C7-F78DF6C0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IN" dirty="0"/>
              <a:t>Components of a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025B-71DC-81C0-F551-39A99491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3"/>
            <a:ext cx="10515600" cy="4781300"/>
          </a:xfrm>
        </p:spPr>
        <p:txBody>
          <a:bodyPr>
            <a:normAutofit/>
          </a:bodyPr>
          <a:lstStyle/>
          <a:p>
            <a:r>
              <a:rPr lang="en-IN" b="1" dirty="0"/>
              <a:t>Data: </a:t>
            </a:r>
            <a:r>
              <a:rPr lang="en-US" dirty="0"/>
              <a:t>The actual information stored in the database, such as text, numbers, images, or files.</a:t>
            </a:r>
          </a:p>
          <a:p>
            <a:r>
              <a:rPr lang="en-US" b="1" dirty="0"/>
              <a:t>Schema: </a:t>
            </a:r>
            <a:r>
              <a:rPr lang="en-US" dirty="0"/>
              <a:t>The structural blueprint that defines how data is organized tables, fields, data types, and relationships.</a:t>
            </a:r>
          </a:p>
          <a:p>
            <a:r>
              <a:rPr lang="en-US" b="1" dirty="0"/>
              <a:t>DBMS: </a:t>
            </a:r>
            <a:r>
              <a:rPr lang="en-US" dirty="0"/>
              <a:t>The software that manages database operations like storage, retrieval, and security (e.g., MySQL, Oracle).</a:t>
            </a:r>
          </a:p>
          <a:p>
            <a:r>
              <a:rPr lang="en-US" b="1" dirty="0"/>
              <a:t>Queries: </a:t>
            </a:r>
            <a:r>
              <a:rPr lang="en-US" dirty="0"/>
              <a:t>Instructions (usually SQL) used to retrieve or manipulate data within the database.</a:t>
            </a:r>
          </a:p>
          <a:p>
            <a:r>
              <a:rPr lang="en-US" b="1" dirty="0"/>
              <a:t>Users: </a:t>
            </a:r>
            <a:r>
              <a:rPr lang="en-US" dirty="0"/>
              <a:t>People or systems that interact with the database, each with specific roles and access permissions.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075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2685-478F-9087-BA50-385607C8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4AEA-1F6D-C545-0389-F4EBF1ED0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Databases can be classified into two primary types: Relational (SQL) and Non-Relational (No-SQL) Databases. </a:t>
            </a:r>
          </a:p>
          <a:p>
            <a:r>
              <a:rPr lang="en-IN" dirty="0"/>
              <a:t>NoSQL is then furtherly divided into four types:</a:t>
            </a:r>
          </a:p>
          <a:p>
            <a:pPr lvl="1"/>
            <a:r>
              <a:rPr lang="en-IN" sz="2800" dirty="0"/>
              <a:t>Document-oriented</a:t>
            </a:r>
          </a:p>
          <a:p>
            <a:pPr lvl="1"/>
            <a:r>
              <a:rPr lang="en-IN" sz="2800" dirty="0"/>
              <a:t>Key-Value</a:t>
            </a:r>
          </a:p>
          <a:p>
            <a:pPr lvl="1"/>
            <a:r>
              <a:rPr lang="en-IN" sz="2800" dirty="0"/>
              <a:t>Wide-Column</a:t>
            </a:r>
          </a:p>
          <a:p>
            <a:pPr lvl="1"/>
            <a:r>
              <a:rPr lang="en-IN" sz="2800" dirty="0"/>
              <a:t>Graph databases</a:t>
            </a:r>
          </a:p>
        </p:txBody>
      </p:sp>
    </p:spTree>
    <p:extLst>
      <p:ext uri="{BB962C8B-B14F-4D97-AF65-F5344CB8AC3E}">
        <p14:creationId xmlns:p14="http://schemas.microsoft.com/office/powerpoint/2010/main" val="1225017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FCC36C-112A-FCBB-8727-61909377A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26" y="253406"/>
            <a:ext cx="8742948" cy="593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4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94CA-ECC5-9911-3BF0-CC47CA2E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/>
          <a:lstStyle/>
          <a:p>
            <a:r>
              <a:rPr lang="en-IN" dirty="0"/>
              <a:t>1. Relational Databases (RDBMS)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2D908-E153-AEEE-B38A-AAC3F4B2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2547"/>
            <a:ext cx="10515600" cy="4267200"/>
          </a:xfrm>
        </p:spPr>
        <p:txBody>
          <a:bodyPr>
            <a:normAutofit/>
          </a:bodyPr>
          <a:lstStyle/>
          <a:p>
            <a:r>
              <a:rPr lang="en-IN" dirty="0"/>
              <a:t>Organize </a:t>
            </a:r>
            <a:r>
              <a:rPr lang="en-US" dirty="0"/>
              <a:t>data into tables made up of rows (records) and columns (fields). They use schemas (blueprints) to define how data is structured and how different tables relate to each other.</a:t>
            </a:r>
          </a:p>
          <a:p>
            <a:r>
              <a:rPr lang="en-US" dirty="0"/>
              <a:t>Strict schema-based structure.</a:t>
            </a:r>
          </a:p>
          <a:p>
            <a:r>
              <a:rPr lang="en-US" dirty="0"/>
              <a:t>Primary Keys (unique IDs) and Foreign Keys (relationships between tables).</a:t>
            </a:r>
          </a:p>
          <a:p>
            <a:r>
              <a:rPr lang="en-US" dirty="0"/>
              <a:t>Strong ACID compliance (Atomicity, Consistency, Isolation, Durability).</a:t>
            </a:r>
          </a:p>
          <a:p>
            <a:r>
              <a:rPr lang="en-US" dirty="0"/>
              <a:t>Ideal for structured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771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1FC8-8D0A-16EF-A813-B704CCD1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NoSQL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0184-C24A-2E57-8C02-BA9AB290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"NoSQL" stands for "Not Only SQL". These databases are designed to handle unstructured or semi-structured data, such as text, images, videos or sensor data. They don’t rely on the traditional table format.</a:t>
            </a:r>
          </a:p>
          <a:p>
            <a:r>
              <a:rPr lang="en-US" dirty="0"/>
              <a:t>Flexible data models (no fixed schema).</a:t>
            </a:r>
          </a:p>
          <a:p>
            <a:r>
              <a:rPr lang="en-US" dirty="0"/>
              <a:t>Scales horizontally for high-volume data.</a:t>
            </a:r>
          </a:p>
          <a:p>
            <a:r>
              <a:rPr lang="en-US" dirty="0"/>
              <a:t>Often optimized for specific use cases like graphs or time-series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244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A42D-0E47-626B-74C1-7A86F86A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/>
          <a:lstStyle/>
          <a:p>
            <a:r>
              <a:rPr lang="en-IN" dirty="0"/>
              <a:t>ACID Properties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0B920A-2111-6E39-230D-5EB9801E84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221" y="1474662"/>
            <a:ext cx="8582526" cy="501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400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8567-2F2C-6C4B-254A-AFCB12C7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0BAD-3657-349D-827B-CFFEFE7E4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Requirement Analysis: Identify what data is needed</a:t>
            </a:r>
          </a:p>
          <a:p>
            <a:r>
              <a:rPr lang="en-IN" dirty="0"/>
              <a:t>Identify Entities: Ex: Student, Course</a:t>
            </a:r>
          </a:p>
          <a:p>
            <a:r>
              <a:rPr lang="en-IN" dirty="0"/>
              <a:t>Identify Relationships: Ex: </a:t>
            </a:r>
            <a:r>
              <a:rPr lang="en-IN" dirty="0" err="1"/>
              <a:t>Enrolled_in</a:t>
            </a:r>
            <a:endParaRPr lang="en-IN" dirty="0"/>
          </a:p>
          <a:p>
            <a:r>
              <a:rPr lang="en-IN" dirty="0"/>
              <a:t>Draw E-R Diagram: Visualize entities &amp; connections</a:t>
            </a:r>
          </a:p>
          <a:p>
            <a:pPr marL="0" indent="0">
              <a:buNone/>
            </a:pPr>
            <a:r>
              <a:rPr lang="en-IN" dirty="0"/>
              <a:t>An Entity-Relationship (ER) Diagram is one of the most important tools in database design. It provides a visual blueprint for how data will be stored, connected and accessed.</a:t>
            </a:r>
          </a:p>
        </p:txBody>
      </p:sp>
    </p:spTree>
    <p:extLst>
      <p:ext uri="{BB962C8B-B14F-4D97-AF65-F5344CB8AC3E}">
        <p14:creationId xmlns:p14="http://schemas.microsoft.com/office/powerpoint/2010/main" val="417701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BDD5A-7192-AD41-038F-0F6F25F2F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28205"/>
            <a:ext cx="8181474" cy="614905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19385B-BCFF-3F59-EB1D-FB9B3F307B54}"/>
              </a:ext>
            </a:extLst>
          </p:cNvPr>
          <p:cNvCxnSpPr/>
          <p:nvPr/>
        </p:nvCxnSpPr>
        <p:spPr>
          <a:xfrm>
            <a:off x="2342147" y="6144126"/>
            <a:ext cx="1764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683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5E26-4D69-2769-4F41-15D6EAFA3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</p:spPr>
        <p:txBody>
          <a:bodyPr/>
          <a:lstStyle/>
          <a:p>
            <a:r>
              <a:rPr lang="en-IN" b="1" dirty="0"/>
              <a:t>What is MySQL?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5738F-9A91-0DE0-DB97-4AAEB246E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748213"/>
          </a:xfrm>
        </p:spPr>
        <p:txBody>
          <a:bodyPr/>
          <a:lstStyle/>
          <a:p>
            <a:r>
              <a:rPr lang="en-IN" dirty="0"/>
              <a:t>MySQL is </a:t>
            </a:r>
            <a:r>
              <a:rPr lang="en-US" dirty="0"/>
              <a:t>an open-source relational database management system that works on many platforms. It provides multi-user access to support many storage engines and is backed by Oracle. So, you can buy a commercial license version from Oracle to get premium support services.</a:t>
            </a:r>
            <a:endParaRPr lang="en-IN" dirty="0"/>
          </a:p>
          <a:p>
            <a:r>
              <a:rPr lang="en-IN" dirty="0"/>
              <a:t>MySQL = Relational DBMS (RDBMS)</a:t>
            </a:r>
          </a:p>
          <a:p>
            <a:r>
              <a:rPr lang="en-IN" dirty="0"/>
              <a:t>Stores data in tables (rows &amp; columns)</a:t>
            </a:r>
          </a:p>
          <a:p>
            <a:r>
              <a:rPr lang="en-IN" dirty="0"/>
              <a:t>Uses SQL to interact with data</a:t>
            </a:r>
          </a:p>
          <a:p>
            <a:r>
              <a:rPr lang="en-IN" dirty="0"/>
              <a:t>Open-source, widely used for web apps (Python, PHP, Java)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547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AF37-323E-9B79-93B2-BD73CDF4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MSQL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23FD0-6799-EDFB-3566-6BD8C4BA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Michael </a:t>
            </a:r>
            <a:r>
              <a:rPr lang="en-US" dirty="0" err="1"/>
              <a:t>Widenius</a:t>
            </a:r>
            <a:r>
              <a:rPr lang="en-US" dirty="0"/>
              <a:t> (Monty </a:t>
            </a:r>
            <a:r>
              <a:rPr lang="en-US" dirty="0" err="1"/>
              <a:t>Widenius</a:t>
            </a:r>
            <a:r>
              <a:rPr lang="en-US" dirty="0"/>
              <a:t>) and David Axmark in 1995 at MySQL AB (Sweden).</a:t>
            </a:r>
          </a:p>
          <a:p>
            <a:r>
              <a:rPr lang="en-US" dirty="0"/>
              <a:t>Initially developed as an open-source alternative to expensive RDBMS products like Oracle and IBM DB2.</a:t>
            </a:r>
          </a:p>
          <a:p>
            <a:r>
              <a:rPr lang="en-US" dirty="0"/>
              <a:t>Acquired by Sun Microsystems in 2008, then by Oracle Corporation in 2010.</a:t>
            </a:r>
          </a:p>
          <a:p>
            <a:r>
              <a:rPr lang="en-US" dirty="0"/>
              <a:t>Current stable versions maintain community (open-source) and enterprise (paid) editions.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696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A03C-19A2-88A3-E872-78E6108C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 fontScale="90000"/>
          </a:bodyPr>
          <a:lstStyle/>
          <a:p>
            <a:r>
              <a:rPr lang="en-US" dirty="0"/>
              <a:t>MySQL Features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1B0C88-D16F-EA44-1728-0FE20EB77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204" y="1278195"/>
            <a:ext cx="9121285" cy="47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4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6593-D02F-2EE1-5266-D085C8A4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Drawbacks of MySQL (Compared to Oracle &amp; DB2)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CB0DF8-EF2A-7EF6-8ABE-B6D7C70CB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884" y="1825625"/>
            <a:ext cx="7956884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53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C2ED-B024-E853-D7A7-DA6CBE7D4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979"/>
            <a:ext cx="10515600" cy="5422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Drawbacks:</a:t>
            </a:r>
          </a:p>
          <a:p>
            <a:r>
              <a:rPr lang="en-US" dirty="0"/>
              <a:t>Limited support for advanced enterprise features (like distributed transactions and parallel query execution).</a:t>
            </a:r>
          </a:p>
          <a:p>
            <a:r>
              <a:rPr lang="en-US" dirty="0"/>
              <a:t>Weaker data warehousing support compared to Oracle/DB2.</a:t>
            </a:r>
          </a:p>
          <a:p>
            <a:r>
              <a:rPr lang="en-US" dirty="0"/>
              <a:t>Less scalable for extremely large enterprise databases.</a:t>
            </a:r>
          </a:p>
          <a:p>
            <a:r>
              <a:rPr lang="en-US" dirty="0"/>
              <a:t>Some features (like stored procedures and triggers) are less powerful than Oracle’s PL/SQL.</a:t>
            </a:r>
          </a:p>
          <a:p>
            <a:r>
              <a:rPr lang="en-US" dirty="0"/>
              <a:t>Best Use Case: MySQL is ideal for web applications, startups, educational projects, and small–medium enterprises.</a:t>
            </a:r>
          </a:p>
          <a:p>
            <a:r>
              <a:rPr lang="en-US" dirty="0"/>
              <a:t>Oracle/DB2: Better suited for large-scale corporate, financial, and high-transaction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770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BF40-5487-A0D9-2496-7B8038AC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70117"/>
          </a:xfrm>
        </p:spPr>
        <p:txBody>
          <a:bodyPr/>
          <a:lstStyle/>
          <a:p>
            <a:r>
              <a:rPr lang="en-US" dirty="0"/>
              <a:t>Client-Server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79EF-580A-24D2-82B8-F30DCA054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9853"/>
            <a:ext cx="10515600" cy="3947110"/>
          </a:xfrm>
        </p:spPr>
        <p:txBody>
          <a:bodyPr/>
          <a:lstStyle/>
          <a:p>
            <a:r>
              <a:rPr lang="en-US" b="1" dirty="0"/>
              <a:t>Client</a:t>
            </a:r>
            <a:r>
              <a:rPr lang="en-US" dirty="0"/>
              <a:t>: Application or user interface (e.g., Web App)</a:t>
            </a:r>
          </a:p>
          <a:p>
            <a:r>
              <a:rPr lang="en-US" b="1" dirty="0"/>
              <a:t>Server</a:t>
            </a:r>
            <a:r>
              <a:rPr lang="en-US" dirty="0"/>
              <a:t>: MySQL engine storing &amp; managing data</a:t>
            </a:r>
          </a:p>
          <a:p>
            <a:r>
              <a:rPr lang="en-US" b="1" dirty="0"/>
              <a:t>Flow</a:t>
            </a:r>
            <a:r>
              <a:rPr lang="en-US" dirty="0"/>
              <a:t>: Client sends SQL → Server processes → Returns 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931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900922-F595-EBBA-60BF-D72B96F5B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73768"/>
            <a:ext cx="9031705" cy="57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29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3B85-DD72-656B-9770-66974DC4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SQL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AE4D3-E5AD-7349-E4BD-B0569DABC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History of SQL</a:t>
            </a:r>
          </a:p>
          <a:p>
            <a:r>
              <a:rPr lang="en-US" dirty="0"/>
              <a:t>SQL (Structured Query Language) was developed in the 1970s by IBM researchers Donald D. Chamberlin and Raymond F. Boyce.</a:t>
            </a:r>
          </a:p>
          <a:p>
            <a:r>
              <a:rPr lang="en-US" dirty="0"/>
              <a:t>It was initially called SEQUEL (Structured English Query Language).</a:t>
            </a:r>
          </a:p>
          <a:p>
            <a:r>
              <a:rPr lang="en-US" dirty="0"/>
              <a:t>Adopted by the American National Standards Institute (ANSI) in 1986 and the International Organization for Standardization (ISO) in 1987.</a:t>
            </a:r>
          </a:p>
          <a:p>
            <a:r>
              <a:rPr lang="en-US" dirty="0"/>
              <a:t>SQL became the standard language for relational database management systems (RDBMS).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412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A276-DDE2-DEFB-6079-1A62FC30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r>
              <a:rPr lang="en-US" dirty="0"/>
              <a:t>Contd.,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0CBA-1127-B20B-7E69-B8FEB508B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242"/>
            <a:ext cx="10515600" cy="49417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Features of SQL</a:t>
            </a:r>
          </a:p>
          <a:p>
            <a:r>
              <a:rPr lang="en-US" dirty="0"/>
              <a:t>High-level language: SQL allows users to query and manipulate data without knowing the underlying database implementation.</a:t>
            </a:r>
          </a:p>
          <a:p>
            <a:r>
              <a:rPr lang="en-US" dirty="0"/>
              <a:t> Non-procedural: Focuses on what to do, not how to do it.</a:t>
            </a:r>
          </a:p>
          <a:p>
            <a:r>
              <a:rPr lang="en-US" dirty="0"/>
              <a:t> Standardized: Follows ANSI/ISO standards for compatibility across RDBMS.</a:t>
            </a:r>
          </a:p>
          <a:p>
            <a:r>
              <a:rPr lang="en-US" dirty="0"/>
              <a:t> Powerful: Can handle complex queries, joins, transactions, and aggregations.</a:t>
            </a:r>
          </a:p>
          <a:p>
            <a:r>
              <a:rPr lang="en-US" dirty="0"/>
              <a:t> Secure: Supports access control using DCL commands (GRANT, REVOKE).</a:t>
            </a:r>
          </a:p>
          <a:p>
            <a:r>
              <a:rPr lang="en-US" dirty="0"/>
              <a:t> Multi-user: Allows concurrent access with ACID transaction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6251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6830-EB2D-36FE-6C39-E8681EC1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/>
          <a:lstStyle/>
          <a:p>
            <a:r>
              <a:rPr lang="en-IN" dirty="0"/>
              <a:t>SQL</a:t>
            </a:r>
            <a:r>
              <a:rPr lang="en-IN" b="1" dirty="0"/>
              <a:t> </a:t>
            </a:r>
            <a:r>
              <a:rPr lang="en-IN" dirty="0"/>
              <a:t>Sub-languages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73015C-2390-7C8B-603D-87307A2CD354}"/>
              </a:ext>
            </a:extLst>
          </p:cNvPr>
          <p:cNvSpPr/>
          <p:nvPr/>
        </p:nvSpPr>
        <p:spPr>
          <a:xfrm>
            <a:off x="4399936" y="1573161"/>
            <a:ext cx="3156154" cy="806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SQL Commands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4AC9A3-AF54-0A52-A99C-67DFB3AA7AE1}"/>
              </a:ext>
            </a:extLst>
          </p:cNvPr>
          <p:cNvCxnSpPr/>
          <p:nvPr/>
        </p:nvCxnSpPr>
        <p:spPr>
          <a:xfrm>
            <a:off x="5978013" y="2428568"/>
            <a:ext cx="0" cy="4129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301DD7-9191-EACC-62B3-97191B94A142}"/>
              </a:ext>
            </a:extLst>
          </p:cNvPr>
          <p:cNvCxnSpPr>
            <a:cxnSpLocks/>
          </p:cNvCxnSpPr>
          <p:nvPr/>
        </p:nvCxnSpPr>
        <p:spPr>
          <a:xfrm>
            <a:off x="2271252" y="2841523"/>
            <a:ext cx="78854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BB0A9E-A33F-9E7B-7FEB-B4729E93D7F0}"/>
              </a:ext>
            </a:extLst>
          </p:cNvPr>
          <p:cNvCxnSpPr/>
          <p:nvPr/>
        </p:nvCxnSpPr>
        <p:spPr>
          <a:xfrm>
            <a:off x="2241755" y="2841523"/>
            <a:ext cx="0" cy="46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0D1B1B-3830-5222-D658-317553746901}"/>
              </a:ext>
            </a:extLst>
          </p:cNvPr>
          <p:cNvCxnSpPr>
            <a:cxnSpLocks/>
          </p:cNvCxnSpPr>
          <p:nvPr/>
        </p:nvCxnSpPr>
        <p:spPr>
          <a:xfrm>
            <a:off x="10117394" y="2841523"/>
            <a:ext cx="0" cy="46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5B54B8-5521-6C0E-A503-06670063D253}"/>
              </a:ext>
            </a:extLst>
          </p:cNvPr>
          <p:cNvCxnSpPr/>
          <p:nvPr/>
        </p:nvCxnSpPr>
        <p:spPr>
          <a:xfrm>
            <a:off x="4306529" y="2841523"/>
            <a:ext cx="0" cy="46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5C07DA-8D10-0E1C-2BE1-5B38BD53883F}"/>
              </a:ext>
            </a:extLst>
          </p:cNvPr>
          <p:cNvCxnSpPr/>
          <p:nvPr/>
        </p:nvCxnSpPr>
        <p:spPr>
          <a:xfrm>
            <a:off x="6381136" y="2836607"/>
            <a:ext cx="0" cy="46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6714E1-2406-0A95-EC07-848A41916404}"/>
              </a:ext>
            </a:extLst>
          </p:cNvPr>
          <p:cNvCxnSpPr/>
          <p:nvPr/>
        </p:nvCxnSpPr>
        <p:spPr>
          <a:xfrm>
            <a:off x="8160774" y="2841523"/>
            <a:ext cx="0" cy="46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9D727BF-6F83-C79A-46B3-C818289DE8B7}"/>
              </a:ext>
            </a:extLst>
          </p:cNvPr>
          <p:cNvSpPr/>
          <p:nvPr/>
        </p:nvSpPr>
        <p:spPr>
          <a:xfrm>
            <a:off x="1573166" y="3303638"/>
            <a:ext cx="1415839" cy="1170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DDL(Data Definition Language)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75494-1990-22CA-22EA-B5DCA2A05A8B}"/>
              </a:ext>
            </a:extLst>
          </p:cNvPr>
          <p:cNvSpPr/>
          <p:nvPr/>
        </p:nvSpPr>
        <p:spPr>
          <a:xfrm>
            <a:off x="3591242" y="3303637"/>
            <a:ext cx="1536288" cy="1170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DML(Data Manipulation Language)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A019AA-BDC2-360F-81DA-E831385E2796}"/>
              </a:ext>
            </a:extLst>
          </p:cNvPr>
          <p:cNvSpPr/>
          <p:nvPr/>
        </p:nvSpPr>
        <p:spPr>
          <a:xfrm>
            <a:off x="5753722" y="3323230"/>
            <a:ext cx="1415840" cy="1170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DCL(Data Control Language)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DB3DB0-2763-0A24-04CF-4B9EB99A9DC5}"/>
              </a:ext>
            </a:extLst>
          </p:cNvPr>
          <p:cNvSpPr/>
          <p:nvPr/>
        </p:nvSpPr>
        <p:spPr>
          <a:xfrm>
            <a:off x="7633522" y="3303639"/>
            <a:ext cx="1404168" cy="1189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TCL(Transaction Control Language)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7E794C-048F-E0EB-74B1-719E589937BE}"/>
              </a:ext>
            </a:extLst>
          </p:cNvPr>
          <p:cNvSpPr/>
          <p:nvPr/>
        </p:nvSpPr>
        <p:spPr>
          <a:xfrm>
            <a:off x="9517626" y="3323229"/>
            <a:ext cx="1415840" cy="11505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DQL(Data Query Language)</a:t>
            </a:r>
          </a:p>
        </p:txBody>
      </p:sp>
    </p:spTree>
    <p:extLst>
      <p:ext uri="{BB962C8B-B14F-4D97-AF65-F5344CB8AC3E}">
        <p14:creationId xmlns:p14="http://schemas.microsoft.com/office/powerpoint/2010/main" val="2769285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7661-EDE3-46C9-22D1-C02C1CDE5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3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SQL Commands</a:t>
            </a:r>
            <a:endParaRPr lang="en-IN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7393D4-6972-35A5-F2A7-331AAB5B2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07958"/>
            <a:ext cx="9144000" cy="449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124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B3C2-78BD-7532-FA31-202F5530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dirty="0"/>
              <a:t>Contd.,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D6FF-959D-E2BE-945B-A7432F2B4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48692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 Definition Language (DDL)</a:t>
            </a:r>
          </a:p>
          <a:p>
            <a:r>
              <a:rPr lang="en-US" dirty="0"/>
              <a:t>Purpose: Define or modify database structure (tables, schemas, indexes).</a:t>
            </a:r>
          </a:p>
          <a:p>
            <a:r>
              <a:rPr lang="en-US" dirty="0"/>
              <a:t>Effect: DDL commands change the structure of the database. Changes are auto-committed.</a:t>
            </a:r>
          </a:p>
          <a:p>
            <a:pPr marL="0" indent="0">
              <a:buNone/>
            </a:pPr>
            <a:r>
              <a:rPr lang="en-IN" b="1" dirty="0"/>
              <a:t>Data Manipulation Language (DML)</a:t>
            </a:r>
          </a:p>
          <a:p>
            <a:r>
              <a:rPr lang="en-IN" dirty="0"/>
              <a:t>Purpose: Manage data inside database tables (insert, update, delete).</a:t>
            </a:r>
          </a:p>
          <a:p>
            <a:r>
              <a:rPr lang="en-US" dirty="0"/>
              <a:t>DML commands manipulate data but do not alter table structure. Changes can be committed or rolled back.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902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33D4-F2AD-9CC3-B189-E19E5D23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359"/>
          </a:xfrm>
        </p:spPr>
        <p:txBody>
          <a:bodyPr>
            <a:normAutofit fontScale="90000"/>
          </a:bodyPr>
          <a:lstStyle/>
          <a:p>
            <a:r>
              <a:rPr lang="en-IN" dirty="0"/>
              <a:t>Contd.,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7521-72D7-470B-34C7-2C6F43A0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1"/>
            <a:ext cx="10515600" cy="51934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 Query Language (DQL)</a:t>
            </a:r>
          </a:p>
          <a:p>
            <a:r>
              <a:rPr lang="en-US" dirty="0"/>
              <a:t>Purpose: Query and retrieve data from the database.</a:t>
            </a:r>
          </a:p>
          <a:p>
            <a:r>
              <a:rPr lang="en-US" dirty="0"/>
              <a:t>DQL is read-only; it does not modify data.</a:t>
            </a:r>
          </a:p>
          <a:p>
            <a:pPr marL="0" indent="0">
              <a:buNone/>
            </a:pPr>
            <a:r>
              <a:rPr lang="en-US" b="1" dirty="0"/>
              <a:t>Data Control Language (DCL)</a:t>
            </a:r>
          </a:p>
          <a:p>
            <a:r>
              <a:rPr lang="en-US" dirty="0"/>
              <a:t>Purpose: Control access, permissions, and security.</a:t>
            </a:r>
          </a:p>
          <a:p>
            <a:r>
              <a:rPr lang="en-US" dirty="0"/>
              <a:t>DCL ensures security and controlled access in multi-user environments.</a:t>
            </a:r>
          </a:p>
          <a:p>
            <a:pPr marL="0" indent="0">
              <a:buNone/>
            </a:pPr>
            <a:r>
              <a:rPr lang="en-US" b="1" dirty="0"/>
              <a:t>Transaction Control Language (TCL)</a:t>
            </a:r>
          </a:p>
          <a:p>
            <a:r>
              <a:rPr lang="en-US" dirty="0"/>
              <a:t>Purpose: Manage transactions to ensure data integrity.</a:t>
            </a:r>
          </a:p>
          <a:p>
            <a:r>
              <a:rPr lang="en-US" dirty="0"/>
              <a:t>TCL ensures ACID properties and maintains database consistency</a:t>
            </a:r>
          </a:p>
          <a:p>
            <a:r>
              <a:rPr lang="en-US" dirty="0"/>
              <a:t>during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077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1323</Words>
  <Application>Microsoft Office PowerPoint</Application>
  <PresentationFormat>Widescreen</PresentationFormat>
  <Paragraphs>142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Wingdings</vt:lpstr>
      <vt:lpstr>Office Theme</vt:lpstr>
      <vt:lpstr>Introduction to DBMS</vt:lpstr>
      <vt:lpstr>What is DBMS?</vt:lpstr>
      <vt:lpstr>What is Database?</vt:lpstr>
      <vt:lpstr>What type of Data stores in a Database?</vt:lpstr>
      <vt:lpstr>File Management System</vt:lpstr>
      <vt:lpstr>Contd.,</vt:lpstr>
      <vt:lpstr>How DBMS works?</vt:lpstr>
      <vt:lpstr>Database Models</vt:lpstr>
      <vt:lpstr>Components of a Database</vt:lpstr>
      <vt:lpstr>Types of Databases</vt:lpstr>
      <vt:lpstr>PowerPoint Presentation</vt:lpstr>
      <vt:lpstr>1. Relational Databases (RDBMS)</vt:lpstr>
      <vt:lpstr>2. NoSQL Databases</vt:lpstr>
      <vt:lpstr>ACID Properties</vt:lpstr>
      <vt:lpstr>Database Design Process</vt:lpstr>
      <vt:lpstr>PowerPoint Presentation</vt:lpstr>
      <vt:lpstr>What is MySQL?</vt:lpstr>
      <vt:lpstr>History of MSQL</vt:lpstr>
      <vt:lpstr>MySQL Features</vt:lpstr>
      <vt:lpstr>Advantages &amp; Drawbacks of MySQL (Compared to Oracle &amp; DB2)</vt:lpstr>
      <vt:lpstr>PowerPoint Presentation</vt:lpstr>
      <vt:lpstr>Client-Server Architecture</vt:lpstr>
      <vt:lpstr>PowerPoint Presentation</vt:lpstr>
      <vt:lpstr>SQL Overview</vt:lpstr>
      <vt:lpstr>Contd.,</vt:lpstr>
      <vt:lpstr>SQL Sub-languages</vt:lpstr>
      <vt:lpstr>SQL Commands</vt:lpstr>
      <vt:lpstr>Contd.,</vt:lpstr>
      <vt:lpstr>Contd.,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Kusuma Mongam</dc:creator>
  <cp:lastModifiedBy>Kusuma Mongam</cp:lastModifiedBy>
  <cp:revision>9</cp:revision>
  <dcterms:created xsi:type="dcterms:W3CDTF">2025-11-19T09:34:45Z</dcterms:created>
  <dcterms:modified xsi:type="dcterms:W3CDTF">2026-06-09T05:23:19Z</dcterms:modified>
</cp:coreProperties>
</file>